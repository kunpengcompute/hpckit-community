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683" r:id="rId3"/>
  </p:sldMasterIdLst>
  <p:notesMasterIdLst>
    <p:notesMasterId r:id="rId12"/>
  </p:notesMasterIdLst>
  <p:handoutMasterIdLst>
    <p:handoutMasterId r:id="rId13"/>
  </p:handoutMasterIdLst>
  <p:sldIdLst>
    <p:sldId id="281" r:id="rId4"/>
    <p:sldId id="257" r:id="rId5"/>
    <p:sldId id="282" r:id="rId6"/>
    <p:sldId id="262" r:id="rId7"/>
    <p:sldId id="260" r:id="rId8"/>
    <p:sldId id="263" r:id="rId9"/>
    <p:sldId id="266" r:id="rId10"/>
    <p:sldId id="280" r:id="rId11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162" d="100"/>
          <a:sy n="162" d="100"/>
        </p:scale>
        <p:origin x="26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9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Kunpeng Compute Team Blog">
            <a:extLst>
              <a:ext uri="{FF2B5EF4-FFF2-40B4-BE49-F238E27FC236}">
                <a16:creationId xmlns:a16="http://schemas.microsoft.com/office/drawing/2014/main" id="{BCE47E2F-0483-4238-9DAF-884340C4BB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unpeng Compute Team Blog">
            <a:extLst>
              <a:ext uri="{FF2B5EF4-FFF2-40B4-BE49-F238E27FC236}">
                <a16:creationId xmlns:a16="http://schemas.microsoft.com/office/drawing/2014/main" id="{B3BC18C0-61DE-405F-8B46-931F44A352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2" descr="Kunpeng Compute Team Blog">
            <a:extLst>
              <a:ext uri="{FF2B5EF4-FFF2-40B4-BE49-F238E27FC236}">
                <a16:creationId xmlns:a16="http://schemas.microsoft.com/office/drawing/2014/main" id="{AD42FB2E-22EA-44A4-A2E1-39B28E4925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5BF6C-B9D4-4691-B62F-8BA41EFE3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996" y="907092"/>
            <a:ext cx="6559809" cy="690255"/>
          </a:xfrm>
        </p:spPr>
        <p:txBody>
          <a:bodyPr anchor="ctr">
            <a:normAutofit/>
          </a:bodyPr>
          <a:lstStyle/>
          <a:p>
            <a:r>
              <a:rPr lang="en-US" altLang="zh-CN" sz="3600" b="1"/>
              <a:t>HPCKit</a:t>
            </a:r>
            <a:r>
              <a:rPr lang="zh-CN" altLang="en-US" sz="3600" b="1"/>
              <a:t>社区新建仓申请模板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85CAC-B51B-41D5-A390-6EB7911F64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FD4B80-7996-4A06-ADA3-9F5C1679393F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83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9454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4800" kern="0" dirty="0">
                <a:solidFill>
                  <a:srgbClr val="DDDDDD">
                    <a:lumMod val="50000"/>
                  </a:srgbClr>
                </a:solidFill>
                <a:latin typeface="微软雅黑" panose="020B0503020204020204" pitchFamily="34" charset="-122"/>
                <a:ea typeface="微软雅黑"/>
                <a:sym typeface="微软雅黑" panose="020B0503020204020204" pitchFamily="34" charset="-122"/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160077" y="1818831"/>
            <a:ext cx="4483260" cy="2769071"/>
            <a:chOff x="7422109" y="3690364"/>
            <a:chExt cx="972161" cy="1385114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tx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/>
                </a:rPr>
                <a:t>Part </a:t>
              </a:r>
              <a:r>
                <a:rPr lang="en-US" altLang="zh-CN" sz="2400" kern="0">
                  <a:solidFill>
                    <a:schemeClr val="tx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/>
                </a:rPr>
                <a:t>1 XXX</a:t>
              </a:r>
              <a:r>
                <a:rPr lang="zh-CN" altLang="en-US" sz="2400" kern="0">
                  <a:solidFill>
                    <a:schemeClr val="tx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/>
                </a:rPr>
                <a:t>仓介绍</a:t>
              </a:r>
              <a:endParaRPr lang="zh-CN" altLang="en-US" sz="2400" kern="0" dirty="0">
                <a:solidFill>
                  <a:schemeClr val="tx1">
                    <a:lumMod val="10000"/>
                    <a:lumOff val="90000"/>
                  </a:scheme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265654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>
                <a:defRPr/>
              </a:pPr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</a:t>
              </a:r>
              <a:r>
                <a:rPr lang="en-US" altLang="zh-CN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2 </a:t>
              </a:r>
              <a:r>
                <a:rPr lang="zh-CN" altLang="en-US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竞争力描述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781599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</a:t>
              </a:r>
              <a:r>
                <a:rPr lang="en-US" altLang="zh-CN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3 </a:t>
              </a:r>
              <a:r>
                <a:rPr lang="zh-CN" altLang="en-US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三方件依赖情况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8653" y="1890393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</a:rPr>
              <a:t>仓介绍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6"/>
            <a:ext cx="10720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、仓介绍（做什么）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、仓的定位（在</a:t>
            </a:r>
            <a:r>
              <a:rPr lang="en-US" altLang="zh-CN"/>
              <a:t>CANN</a:t>
            </a:r>
            <a:r>
              <a:rPr lang="zh-CN" altLang="en-US"/>
              <a:t>社区</a:t>
            </a:r>
            <a:r>
              <a:rPr lang="en-US" altLang="zh-CN"/>
              <a:t>/</a:t>
            </a:r>
            <a:r>
              <a:rPr lang="zh-CN" altLang="en-US"/>
              <a:t>架构中，要解决的问题，发挥的作用）</a:t>
            </a:r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、代码仓结构图（模块划分、作用等）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、代码仓的</a:t>
            </a:r>
            <a:r>
              <a:rPr lang="en-US" altLang="zh-CN"/>
              <a:t>maintainer/committer</a:t>
            </a:r>
            <a:r>
              <a:rPr lang="zh-CN" altLang="en-US"/>
              <a:t>人员</a:t>
            </a:r>
            <a:endParaRPr lang="en-US" altLang="zh-CN"/>
          </a:p>
          <a:p>
            <a:r>
              <a:rPr lang="en-US" altLang="zh-CN"/>
              <a:t>5</a:t>
            </a:r>
            <a:r>
              <a:rPr lang="zh-CN" altLang="en-US"/>
              <a:t>、对外接口</a:t>
            </a:r>
          </a:p>
          <a:p>
            <a:r>
              <a:rPr lang="en-US" altLang="zh-CN"/>
              <a:t>6</a:t>
            </a:r>
            <a:r>
              <a:rPr lang="zh-CN" altLang="en-US"/>
              <a:t>、开源</a:t>
            </a:r>
            <a:r>
              <a:rPr lang="en-US" altLang="zh-CN"/>
              <a:t>license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900271" y="3516631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备注：新建仓命名规范请参考</a:t>
            </a:r>
            <a:r>
              <a:rPr lang="en-US" altLang="zh-CN" sz="1400"/>
              <a:t>P7</a:t>
            </a:r>
            <a:r>
              <a:rPr lang="zh-CN" altLang="en-US" sz="1400"/>
              <a:t>附录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0E833D-5226-462F-82BD-75B214633E1C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</a:rPr>
              <a:t>竞争力描述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6"/>
            <a:ext cx="107202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主要竞争力点介绍（功能、性能、生态兼容、易用性</a:t>
            </a:r>
            <a:r>
              <a:rPr lang="zh-CN" altLang="en-US"/>
              <a:t>等方面）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DAB202-C012-4D62-9CAE-172703B7461F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洞察对标（不涉及跳过）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7"/>
            <a:ext cx="1072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、业界对标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、差异比较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587A57-9A0B-4C3B-BCB1-FFA22D8DAB35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三方件依赖引入（不涉及跳过）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04325"/>
              </p:ext>
            </p:extLst>
          </p:nvPr>
        </p:nvGraphicFramePr>
        <p:xfrm>
          <a:off x="731977" y="1372808"/>
          <a:ext cx="10720070" cy="28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9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3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三方件名称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上游社区状态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zh-CN" altLang="en-US" sz="1400" dirty="0">
                          <a:solidFill>
                            <a:srgbClr val="0000FF"/>
                          </a:solidFill>
                        </a:rPr>
                        <a:t>发展期、成熟期、衰退期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社区最新发布版本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引入版本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是否正式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License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660ED34-77F9-4468-B6C9-C33FF9535467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附录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997" y="1191987"/>
            <a:ext cx="107202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ea typeface="+mn-lt"/>
                <a:cs typeface="+mn-lt"/>
              </a:rPr>
              <a:t>新建仓命名</a:t>
            </a:r>
            <a:r>
              <a:rPr lang="zh-CN" altLang="en-US" b="1" dirty="0">
                <a:ea typeface="+mn-lt"/>
                <a:cs typeface="+mn-lt"/>
              </a:rPr>
              <a:t>规范：</a:t>
            </a:r>
          </a:p>
          <a:p>
            <a:pPr indent="457200"/>
            <a:r>
              <a:rPr lang="en-US" altLang="zh-CN" dirty="0">
                <a:ea typeface="+mn-lt"/>
                <a:cs typeface="+mn-lt"/>
              </a:rPr>
              <a:t>1</a:t>
            </a:r>
            <a:r>
              <a:rPr lang="zh-CN" altLang="en-US" dirty="0">
                <a:ea typeface="+mn-lt"/>
                <a:cs typeface="+mn-lt"/>
              </a:rPr>
              <a:t>、简洁</a:t>
            </a:r>
            <a:r>
              <a:rPr lang="zh-CN" altLang="en-US">
                <a:ea typeface="+mn-lt"/>
                <a:cs typeface="+mn-lt"/>
              </a:rPr>
              <a:t>清晰：有明确的含义，能够直观地反映项目功能或用途，简洁易记，避免冗长。</a:t>
            </a:r>
            <a:endParaRPr lang="zh-CN" altLang="en-US" dirty="0">
              <a:ea typeface="+mn-lt"/>
              <a:cs typeface="+mn-lt"/>
            </a:endParaRPr>
          </a:p>
          <a:p>
            <a:pPr indent="457200"/>
            <a:r>
              <a:rPr lang="en-US" altLang="zh-CN" dirty="0">
                <a:ea typeface="+mn-lt"/>
                <a:cs typeface="+mn-lt"/>
              </a:rPr>
              <a:t>2</a:t>
            </a:r>
            <a:r>
              <a:rPr lang="zh-CN" altLang="en-US" dirty="0">
                <a:ea typeface="+mn-lt"/>
                <a:cs typeface="+mn-lt"/>
              </a:rPr>
              <a:t>、名词</a:t>
            </a:r>
            <a:r>
              <a:rPr lang="zh-CN" altLang="en-US">
                <a:ea typeface="+mn-lt"/>
                <a:cs typeface="+mn-lt"/>
              </a:rPr>
              <a:t>优先：使用意义完整的英文描述，建议</a:t>
            </a:r>
            <a:r>
              <a:rPr lang="zh-CN" altLang="en-US" dirty="0">
                <a:ea typeface="+mn-lt"/>
                <a:cs typeface="+mn-lt"/>
              </a:rPr>
              <a:t>优先使用名词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名词短语，少动词、形容词。</a:t>
            </a:r>
          </a:p>
          <a:p>
            <a:pPr indent="457200"/>
            <a:r>
              <a:rPr lang="en-US" altLang="zh-CN">
                <a:ea typeface="+mn-lt"/>
                <a:cs typeface="+mn-lt"/>
              </a:rPr>
              <a:t>3</a:t>
            </a:r>
            <a:r>
              <a:rPr lang="zh-CN" altLang="en-US">
                <a:ea typeface="+mn-lt"/>
                <a:cs typeface="+mn-lt"/>
              </a:rPr>
              <a:t>、统一格式：全小写，中划线分割（</a:t>
            </a:r>
            <a:r>
              <a:rPr lang="en-US" altLang="zh-CN">
                <a:ea typeface="+mn-lt"/>
                <a:cs typeface="+mn-lt"/>
              </a:rPr>
              <a:t>lower-with-hyphen</a:t>
            </a:r>
            <a:r>
              <a:rPr lang="zh-CN" altLang="en-US">
                <a:ea typeface="+mn-lt"/>
                <a:cs typeface="+mn-lt"/>
              </a:rPr>
              <a:t>），无空格</a:t>
            </a:r>
            <a:r>
              <a:rPr lang="en-US" altLang="zh-CN">
                <a:ea typeface="+mn-lt"/>
                <a:cs typeface="+mn-lt"/>
              </a:rPr>
              <a:t>/</a:t>
            </a:r>
            <a:r>
              <a:rPr lang="zh-CN" altLang="en-US">
                <a:ea typeface="+mn-lt"/>
                <a:cs typeface="+mn-lt"/>
              </a:rPr>
              <a:t>下划线</a:t>
            </a:r>
            <a:r>
              <a:rPr lang="en-US" altLang="zh-CN">
                <a:ea typeface="+mn-lt"/>
                <a:cs typeface="+mn-lt"/>
              </a:rPr>
              <a:t>/</a:t>
            </a:r>
            <a:r>
              <a:rPr lang="zh-CN" altLang="en-US">
                <a:ea typeface="+mn-lt"/>
                <a:cs typeface="+mn-lt"/>
              </a:rPr>
              <a:t>驼峰</a:t>
            </a:r>
            <a:r>
              <a:rPr lang="en-US" altLang="zh-CN">
                <a:ea typeface="+mn-lt"/>
                <a:cs typeface="+mn-lt"/>
              </a:rPr>
              <a:t>/</a:t>
            </a:r>
            <a:r>
              <a:rPr lang="zh-CN" altLang="en-US">
                <a:ea typeface="+mn-lt"/>
                <a:cs typeface="+mn-lt"/>
              </a:rPr>
              <a:t>特殊字符。</a:t>
            </a:r>
          </a:p>
          <a:p>
            <a:pPr indent="457200"/>
            <a:r>
              <a:rPr lang="en-US" altLang="zh-CN">
                <a:ea typeface="+mn-lt"/>
                <a:cs typeface="+mn-lt"/>
              </a:rPr>
              <a:t>4</a:t>
            </a:r>
            <a:r>
              <a:rPr lang="zh-CN" altLang="en-US">
                <a:ea typeface="+mn-lt"/>
                <a:cs typeface="+mn-lt"/>
              </a:rPr>
              <a:t>、唯一不重复：不与现有仓库重名。</a:t>
            </a:r>
          </a:p>
          <a:p>
            <a:pPr indent="457200"/>
            <a:r>
              <a:rPr lang="en-US" altLang="zh-CN">
                <a:ea typeface="+mn-lt"/>
                <a:cs typeface="+mn-lt"/>
              </a:rPr>
              <a:t>5</a:t>
            </a:r>
            <a:r>
              <a:rPr lang="zh-CN" altLang="en-US" dirty="0">
                <a:ea typeface="+mn-lt"/>
                <a:cs typeface="+mn-lt"/>
              </a:rPr>
              <a:t>、命名格式</a:t>
            </a:r>
            <a:r>
              <a:rPr lang="zh-CN" altLang="en-US">
                <a:ea typeface="+mn-lt"/>
                <a:cs typeface="+mn-lt"/>
              </a:rPr>
              <a:t>：</a:t>
            </a:r>
            <a:r>
              <a:rPr lang="en-US" altLang="zh-CN">
                <a:ea typeface="+mn-lt"/>
                <a:cs typeface="+mn-lt"/>
              </a:rPr>
              <a:t>&lt;</a:t>
            </a:r>
            <a:r>
              <a:rPr lang="zh-CN" altLang="en-US">
                <a:ea typeface="+mn-lt"/>
                <a:cs typeface="+mn-lt"/>
              </a:rPr>
              <a:t>项目功能</a:t>
            </a:r>
            <a:r>
              <a:rPr lang="en-US" altLang="zh-CN">
                <a:ea typeface="+mn-lt"/>
                <a:cs typeface="+mn-lt"/>
              </a:rPr>
              <a:t>&gt;</a:t>
            </a:r>
            <a:r>
              <a:rPr lang="zh-CN" altLang="en-US">
                <a:ea typeface="+mn-lt"/>
                <a:cs typeface="+mn-lt"/>
              </a:rPr>
              <a:t>，例如</a:t>
            </a:r>
            <a:r>
              <a:rPr lang="en-US" altLang="zh-CN">
                <a:ea typeface="+mn-lt"/>
                <a:cs typeface="+mn-lt"/>
              </a:rPr>
              <a:t>kupl</a:t>
            </a:r>
            <a:r>
              <a:rPr lang="zh-CN" altLang="en-US">
                <a:ea typeface="+mn-lt"/>
                <a:cs typeface="+mn-lt"/>
              </a:rPr>
              <a:t>（</a:t>
            </a:r>
            <a:r>
              <a:rPr lang="en-US" altLang="zh-CN"/>
              <a:t>Kunpeng Unified Parallel Library</a:t>
            </a:r>
            <a:r>
              <a:rPr lang="zh-CN" altLang="en-US">
                <a:ea typeface="+mn-lt"/>
                <a:cs typeface="+mn-lt"/>
              </a:rPr>
              <a:t>）、</a:t>
            </a:r>
            <a:r>
              <a:rPr lang="en-US" altLang="zh-CN">
                <a:ea typeface="+mn-lt"/>
                <a:cs typeface="+mn-lt"/>
              </a:rPr>
              <a:t>kunpeng-extension-for-pytorch</a:t>
            </a:r>
            <a:r>
              <a:rPr lang="zh-CN" altLang="en-US">
                <a:ea typeface="+mn-lt"/>
                <a:cs typeface="+mn-lt"/>
              </a:rPr>
              <a:t>。</a:t>
            </a:r>
            <a:endParaRPr lang="zh-CN" altLang="en-US" dirty="0">
              <a:ea typeface="+mn-lt"/>
              <a:cs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99D7D1-0F2D-40A2-8E35-ADDC39790500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5B7877-E896-4917-8A80-B9C78F9E1792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260</TotalTime>
  <Words>363</Words>
  <Application>Microsoft Office PowerPoint</Application>
  <PresentationFormat>自定义</PresentationFormat>
  <Paragraphs>47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 Light (标题)</vt:lpstr>
      <vt:lpstr>黑体</vt:lpstr>
      <vt:lpstr>Microsoft YaHei</vt:lpstr>
      <vt:lpstr>Microsoft YaHei</vt:lpstr>
      <vt:lpstr>Arial</vt:lpstr>
      <vt:lpstr>Calibri</vt:lpstr>
      <vt:lpstr>封面页_图片版 </vt:lpstr>
      <vt:lpstr>目录页</vt:lpstr>
      <vt:lpstr>结束页</vt:lpstr>
      <vt:lpstr>HPCKit社区新建仓申请模板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zhangyue (F)</dc:creator>
  <cp:lastModifiedBy>zhangyue (F)</cp:lastModifiedBy>
  <cp:revision>67</cp:revision>
  <dcterms:created xsi:type="dcterms:W3CDTF">2020-08-28T08:44:19Z</dcterms:created>
  <dcterms:modified xsi:type="dcterms:W3CDTF">2026-06-02T07:35:38Z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